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2" autoAdjust="0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Rademacher" userId="29c15501068a721e" providerId="LiveId" clId="{B3B2C3FA-C641-4A25-89B9-2789072804B0}"/>
    <pc:docChg chg="modSld">
      <pc:chgData name="Tobias Rademacher" userId="29c15501068a721e" providerId="LiveId" clId="{B3B2C3FA-C641-4A25-89B9-2789072804B0}" dt="2026-09-03T09:10:12.430" v="44" actId="20577"/>
      <pc:docMkLst>
        <pc:docMk/>
      </pc:docMkLst>
      <pc:sldChg chg="modSp mod">
        <pc:chgData name="Tobias Rademacher" userId="29c15501068a721e" providerId="LiveId" clId="{B3B2C3FA-C641-4A25-89B9-2789072804B0}" dt="2026-09-03T09:10:12.430" v="44" actId="20577"/>
        <pc:sldMkLst>
          <pc:docMk/>
          <pc:sldMk cId="0" sldId="261"/>
        </pc:sldMkLst>
        <pc:graphicFrameChg chg="modGraphic">
          <ac:chgData name="Tobias Rademacher" userId="29c15501068a721e" providerId="LiveId" clId="{B3B2C3FA-C641-4A25-89B9-2789072804B0}" dt="2026-09-03T09:10:12.430" v="44" actId="20577"/>
          <ac:graphicFrameMkLst>
            <pc:docMk/>
            <pc:sldMk cId="0" sldId="261"/>
            <ac:graphicFrameMk id="8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202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</a:rPr>
              <a:t>Clinical Named Entity Recognition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</a:rPr>
              <a:t>for MRSA Risk Factors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FA400"/>
                </a:solidFill>
              </a:rPr>
              <a:t>A fine-tuned scispaCy pipeline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976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9AA0A0"/>
                </a:solidFill>
              </a:rPr>
              <a:t>Tobias Rademacher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Motivation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2880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Clinical notes hold most of what is known about a patient: prior colonisation, wounds, devices, where they were treated before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None of it is usable as it stands. A clinician would have to read every note a patient has, and a prediction model cannot read at all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Structured EHR fields are usable but incomplete — they carry codes and labs, not what was written in prose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Nigo et al. 2024 — AUROC 0.911 for MRSA bloodstream infection, from structured EHR alone.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A0"/>
                </a:solidFill>
              </a:rPr>
              <a:t>Strong model, and clinical notes are not part of it. That is the gap this thesis works in.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FA400"/>
                </a:solidFill>
              </a:rPr>
              <a:t>Goal: move information out of prose and into structured, typed variables — so it can be shown in software, or used as model input.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The task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28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</a:rPr>
              <a:t>Pt with h/o MRSA bacteremia, now on vancomycin, PICC placed 3/12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A0"/>
                </a:solidFill>
              </a:rPr>
              <a:t>illustrative — constructed, not a real note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34640"/>
          <a:ext cx="10607040" cy="115214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MRSA bacteremia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DISEASE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AA0A0"/>
                          </a:solidFill>
                        </a:rPr>
                        <a:t>conditions, diagnoses, symptoms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vancomycin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MEDICATION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AA0A0"/>
                          </a:solidFill>
                        </a:rPr>
                        <a:t>drugs and drug classes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PICC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PROCEDURE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AA0A0"/>
                          </a:solidFill>
                        </a:rPr>
                        <a:t>devices, interventions, imaging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85800" y="4663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Finding the mention is not the same as knowing it is true.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h/o makes this history — a risk factor. Without it, the same span may be the outcome itself. That distinction is a separate layer, and it is measured separately.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The pipeline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60520" y="1627632"/>
            <a:ext cx="3840480" cy="420624"/>
          </a:xfrm>
          <a:prstGeom prst="roundRect">
            <a:avLst>
              <a:gd name="adj" fmla="val 17391"/>
            </a:avLst>
          </a:prstGeom>
          <a:solidFill>
            <a:srgbClr val="151717"/>
          </a:solidFill>
          <a:ln w="13970">
            <a:solidFill>
              <a:srgbClr val="6E73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 txBox="1"/>
          <p:nvPr/>
        </p:nvSpPr>
        <p:spPr>
          <a:xfrm>
            <a:off x="4160520" y="16276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1 · extract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parquet · 20,937 notes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048256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160520" y="2212848"/>
            <a:ext cx="3840480" cy="420624"/>
          </a:xfrm>
          <a:prstGeom prst="roundRect">
            <a:avLst>
              <a:gd name="adj" fmla="val 17391"/>
            </a:avLst>
          </a:prstGeom>
          <a:solidFill>
            <a:srgbClr val="151717"/>
          </a:solidFill>
          <a:ln w="13970">
            <a:solidFill>
              <a:srgbClr val="6E73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4160520" y="22128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2 · teacher annotation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llama3.3:70b · JSON per note · all 20,937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2633472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4160520" y="2798064"/>
            <a:ext cx="3840480" cy="420624"/>
          </a:xfrm>
          <a:prstGeom prst="roundRect">
            <a:avLst>
              <a:gd name="adj" fmla="val 17391"/>
            </a:avLst>
          </a:prstGeom>
          <a:solidFill>
            <a:srgbClr val="151717"/>
          </a:solidFill>
          <a:ln w="13970">
            <a:solidFill>
              <a:srgbClr val="6E73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 txBox="1"/>
          <p:nvPr/>
        </p:nvSpPr>
        <p:spPr>
          <a:xfrm>
            <a:off x="4160520" y="2798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3 · split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18,669 notes ≥ 200 chars → train / dev / test .spacy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3218688"/>
            <a:ext cx="0" cy="146304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965960" y="3364992"/>
            <a:ext cx="4114800" cy="0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1965960" y="3364992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6080760" y="3218688"/>
            <a:ext cx="0" cy="310896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6080760" y="3218688"/>
            <a:ext cx="0" cy="146304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6080760" y="3364992"/>
            <a:ext cx="4114800" cy="0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9"/>
          <p:cNvSpPr/>
          <p:nvPr/>
        </p:nvSpPr>
        <p:spPr>
          <a:xfrm>
            <a:off x="10195560" y="3364992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0"/>
          <p:cNvSpPr/>
          <p:nvPr/>
        </p:nvSpPr>
        <p:spPr>
          <a:xfrm>
            <a:off x="960120" y="3529584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51717"/>
          </a:solidFill>
          <a:ln w="1397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 txBox="1"/>
          <p:nvPr/>
        </p:nvSpPr>
        <p:spPr>
          <a:xfrm>
            <a:off x="960120" y="3529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13,071 · 24 patients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74920" y="3529584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51717"/>
          </a:solidFill>
          <a:ln w="1397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 txBox="1"/>
          <p:nvPr/>
        </p:nvSpPr>
        <p:spPr>
          <a:xfrm>
            <a:off x="5074920" y="3529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dev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2,793 · 13 patients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89720" y="3529584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51717"/>
          </a:solidFill>
          <a:ln w="13970">
            <a:solidFill>
              <a:srgbClr val="EFA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9189720" y="3529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2,805 · 13 patients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965960" y="3931920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7"/>
          <p:cNvSpPr/>
          <p:nvPr/>
        </p:nvSpPr>
        <p:spPr>
          <a:xfrm>
            <a:off x="6080760" y="3931920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10195560" y="3931920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9"/>
          <p:cNvSpPr/>
          <p:nvPr/>
        </p:nvSpPr>
        <p:spPr>
          <a:xfrm>
            <a:off x="960120" y="409651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51717"/>
          </a:solidFill>
          <a:ln w="1397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 txBox="1"/>
          <p:nvPr/>
        </p:nvSpPr>
        <p:spPr>
          <a:xfrm>
            <a:off x="960120" y="40965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4 · fine-tune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2k / 5k / 10k / full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74920" y="409651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51717"/>
          </a:solidFill>
          <a:ln w="1397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 txBox="1"/>
          <p:nvPr/>
        </p:nvSpPr>
        <p:spPr>
          <a:xfrm>
            <a:off x="5074920" y="40965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checkpoint choice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dev_500 every 500 steps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189720" y="409651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51717"/>
          </a:solidFill>
          <a:ln w="13970">
            <a:solidFill>
              <a:srgbClr val="EFA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 txBox="1"/>
          <p:nvPr/>
        </p:nvSpPr>
        <p:spPr>
          <a:xfrm>
            <a:off x="9189720" y="40965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5 · gold standard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16 notes · INCEpTION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080760" y="4535424"/>
            <a:ext cx="0" cy="146304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6"/>
          <p:cNvSpPr/>
          <p:nvPr/>
        </p:nvSpPr>
        <p:spPr>
          <a:xfrm>
            <a:off x="3794760" y="4681728"/>
            <a:ext cx="2286000" cy="0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7"/>
          <p:cNvSpPr/>
          <p:nvPr/>
        </p:nvSpPr>
        <p:spPr>
          <a:xfrm>
            <a:off x="3794760" y="4681728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8"/>
          <p:cNvSpPr/>
          <p:nvPr/>
        </p:nvSpPr>
        <p:spPr>
          <a:xfrm>
            <a:off x="1965960" y="4535424"/>
            <a:ext cx="0" cy="146304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9"/>
          <p:cNvSpPr/>
          <p:nvPr/>
        </p:nvSpPr>
        <p:spPr>
          <a:xfrm>
            <a:off x="1965960" y="4681728"/>
            <a:ext cx="1828800" cy="0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0"/>
          <p:cNvSpPr/>
          <p:nvPr/>
        </p:nvSpPr>
        <p:spPr>
          <a:xfrm>
            <a:off x="3794760" y="4681728"/>
            <a:ext cx="0" cy="164592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1"/>
          <p:cNvSpPr/>
          <p:nvPr/>
        </p:nvSpPr>
        <p:spPr>
          <a:xfrm>
            <a:off x="10195560" y="4535424"/>
            <a:ext cx="0" cy="310896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2"/>
          <p:cNvSpPr/>
          <p:nvPr/>
        </p:nvSpPr>
        <p:spPr>
          <a:xfrm>
            <a:off x="2788920" y="4846320"/>
            <a:ext cx="2011680" cy="402336"/>
          </a:xfrm>
          <a:prstGeom prst="roundRect">
            <a:avLst>
              <a:gd name="adj" fmla="val 18182"/>
            </a:avLst>
          </a:prstGeom>
          <a:solidFill>
            <a:srgbClr val="151717"/>
          </a:solidFill>
          <a:ln w="1397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3"/>
          <p:cNvSpPr txBox="1"/>
          <p:nvPr/>
        </p:nvSpPr>
        <p:spPr>
          <a:xfrm>
            <a:off x="2788920" y="48463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model-best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student NER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366760" y="4846320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151717"/>
          </a:solidFill>
          <a:ln w="13970">
            <a:solidFill>
              <a:srgbClr val="EFA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5"/>
          <p:cNvSpPr txBox="1"/>
          <p:nvPr/>
        </p:nvSpPr>
        <p:spPr>
          <a:xfrm>
            <a:off x="8366760" y="48463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6 · evaluation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1,684 spans · five assertion axes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800600" y="5047488"/>
            <a:ext cx="3520440" cy="0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7"/>
          <p:cNvSpPr/>
          <p:nvPr/>
        </p:nvSpPr>
        <p:spPr>
          <a:xfrm>
            <a:off x="3794760" y="5248656"/>
            <a:ext cx="0" cy="219456"/>
          </a:xfrm>
          <a:prstGeom prst="line">
            <a:avLst/>
          </a:prstGeom>
          <a:noFill/>
          <a:ln w="12700">
            <a:solidFill>
              <a:srgbClr val="9AA0A0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8"/>
          <p:cNvSpPr/>
          <p:nvPr/>
        </p:nvSpPr>
        <p:spPr>
          <a:xfrm>
            <a:off x="960120" y="5468112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51717"/>
          </a:solidFill>
          <a:ln w="13970">
            <a:solidFill>
              <a:srgbClr val="EFA4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49"/>
          <p:cNvSpPr txBox="1"/>
          <p:nvPr/>
        </p:nvSpPr>
        <p:spPr>
          <a:xfrm>
            <a:off x="960120" y="54681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7 · apply — all 20,937 notes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850" dirty="0">
                <a:solidFill>
                  <a:srgbClr val="9AA0A0"/>
                </a:solidFill>
              </a:rPr>
              <a:t>student NER → assertion layer → lexicon → feature matrix   ·   CSV, note → visit → patient</a:t>
            </a:r>
            <a:endParaRPr lang="en-US" sz="1100" dirty="0"/>
          </a:p>
        </p:txBody>
      </p:sp>
      <p:sp>
        <p:nvSpPr>
          <p:cNvPr id="201" name="Text 201"/>
          <p:cNvSpPr txBox="1"/>
          <p:nvPr/>
        </p:nvSpPr>
        <p:spPr>
          <a:xfrm>
            <a:off x="548640" y="1660000"/>
            <a:ext cx="31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A33D"/>
                </a:solidFill>
              </a:rPr>
              <a:t>THE CORPUS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870" b="0" dirty="0">
                <a:solidFill>
                  <a:srgbClr val="FFFFFF"/>
                </a:solidFill>
              </a:rPr>
              <a:t>50 patients · 26 control, 24 case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870" b="0" dirty="0">
                <a:solidFill>
                  <a:srgbClr val="FFFFFF"/>
                </a:solidFill>
              </a:rPr>
              <a:t>20,937 notes · median 2,653 chars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870" b="0" dirty="0">
                <a:solidFill>
                  <a:srgbClr val="9AA0A0"/>
                </a:solidFill>
              </a:rPr>
              <a:t>Progress 89.7 % Consults 6.1 %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870" b="0" dirty="0">
                <a:solidFill>
                  <a:srgbClr val="9AA0A0"/>
                </a:solidFill>
              </a:rPr>
              <a:t>H&amp;P 2.3 % Discharge 1.9 %</a:t>
            </a:r>
          </a:p>
        </p:txBody>
      </p:sp>
      <p:sp>
        <p:nvSpPr>
          <p:cNvPr id="211" name="QC 211"/>
          <p:cNvSpPr txBox="1"/>
          <p:nvPr/>
        </p:nvSpPr>
        <p:spPr>
          <a:xfrm>
            <a:off x="6260000" y="2038000"/>
            <a:ext cx="510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0" dirty="0">
                <a:solidFill>
                  <a:srgbClr val="9AA0A0"/>
                </a:solidFill>
              </a:rPr>
              <a:t>14 whitespace-only notes removed</a:t>
            </a:r>
          </a:p>
        </p:txBody>
      </p:sp>
      <p:sp>
        <p:nvSpPr>
          <p:cNvPr id="212" name="QC 212"/>
          <p:cNvSpPr txBox="1"/>
          <p:nvPr/>
        </p:nvSpPr>
        <p:spPr>
          <a:xfrm>
            <a:off x="6260000" y="2623000"/>
            <a:ext cx="510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0" dirty="0">
                <a:solidFill>
                  <a:srgbClr val="9AA0A0"/>
                </a:solidFill>
              </a:rPr>
              <a:t>3.7 % of proposed spans dropped — not found verbatim</a:t>
            </a:r>
          </a:p>
        </p:txBody>
      </p:sp>
      <p:sp>
        <p:nvSpPr>
          <p:cNvPr id="213" name="QC 213"/>
          <p:cNvSpPr txBox="1"/>
          <p:nvPr/>
        </p:nvSpPr>
        <p:spPr>
          <a:xfrm>
            <a:off x="6260000" y="3232000"/>
            <a:ext cx="5100000" cy="1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b="0" dirty="0">
                <a:solidFill>
                  <a:srgbClr val="9AA0A0"/>
                </a:solidFill>
              </a:rPr>
              <a:t>1,304 labels outside the schema dropped  ·  0 alignment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Quality control, by stage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607040" cy="26883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FA400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FA400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FA400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extraction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whitespace-only notes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14 removed  (20,951 → 20,937)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teacher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proposed span occurs verbatim in the note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3.7 % dropped as hallucinated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teacher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context window large enough for long notes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2,048 → 8,192 — the default truncated silently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DocBin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character offsets align to token boundaries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0 failures, TOK 100.00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DocBin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overlapping spans spaCy cannot store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14,500 dropped  (2.5 %)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DocBin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labels outside the three-label schema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1,304 dropped  (0.2 %)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FA400"/>
                </a:solidFill>
              </a:rPr>
              <a:t>Corpus as it stands:  </a:t>
            </a:r>
            <a:r>
              <a:rPr lang="en-US" sz="1400" dirty="0">
                <a:solidFill>
                  <a:srgbClr val="FFFFFF"/>
                </a:solidFill>
              </a:rPr>
              <a:t>20,937 notes · 50 patients · median 2,653 characters · Progress Notes 89.7 %, Consults 6.1 %, H&amp;P 2.3 %, Discharge 1.9 % · one patient contributes 9.5 % · zero newline characters, the export flattened every line break to spaces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How the split was chosen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608483"/>
              </p:ext>
            </p:extLst>
          </p:nvPr>
        </p:nvGraphicFramePr>
        <p:xfrm>
          <a:off x="685800" y="1828800"/>
          <a:ext cx="6080760" cy="19202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A400"/>
                          </a:solidFill>
                        </a:rPr>
                        <a:t>hard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 patient’s notes never straddle splits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A400"/>
                          </a:solidFill>
                        </a:rPr>
                        <a:t>optimise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Note-count proportions 70 / 15 / 15, greedy longest-patient-first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A400"/>
                          </a:solidFill>
                        </a:rPr>
                        <a:t>tie-break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Case / control balance — used only to break ties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A400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All four note types in every split — 48 of 50 patients carry all four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A400"/>
                          </a:solidFill>
                        </a:rPr>
                        <a:t>fixed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Deterministic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25196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FA400"/>
                          </a:solidFill>
                        </a:rPr>
                        <a:t>train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FA400"/>
                          </a:solidFill>
                        </a:rPr>
                        <a:t>dev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FA400"/>
                          </a:solidFill>
                        </a:rPr>
                        <a:t>test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24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13,071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2,793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2,805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70.0 %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15.0 %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15.0 %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Progress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11,581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2,503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2,473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Consults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890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171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187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H&amp;P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316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68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85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Discharge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284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51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60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85800" y="3886200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FA400"/>
                </a:solidFill>
              </a:rPr>
              <a:t>Why patient-level: </a:t>
            </a:r>
            <a:r>
              <a:rPr lang="en-US" sz="1300" dirty="0">
                <a:solidFill>
                  <a:srgbClr val="FFFFFF"/>
                </a:solidFill>
              </a:rPr>
              <a:t>copy-forward duplication is a within-patient phenomenon — 4.8 % literal, 9.4 % digit-masked — while cross-patient overlap is 0.3 %. 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Teacher and student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969264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teacher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student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llama3.3:70b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scispaCy en_core_sci_sm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hardware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H100 NVL, 80 GB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CPU, 8 cores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≈ 8.7 s / note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≈ 74 ms / note — 118× faster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full corpus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≈ 50 GPU-hours, queued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≈ 20 min, runs anywhere in the enclave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" y="4572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FA400"/>
                </a:solidFill>
              </a:rPr>
              <a:t>Why scispaCy, if the labels have to be learned anyway?  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What transfers is the biomedical tokenizer and the pre-trained vectors, not the labels. The default English tokenizer mis-splits hyphenated drug names and dosages, and every downstream character offset inherits that error.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Result: the student beats its teacher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8595360" cy="268833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vs. reference standard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teacher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student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74.6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78.6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33.8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41.6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46.5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54.4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DISEASE 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38.8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46.7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MEDICATION 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62.2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77.2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PROCEDURE 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47.4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43.0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Result: how much weak supervision is enough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10241280" cy="26883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training notes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2k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5k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10k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full 13k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77.0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79.1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76.3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78.6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36.6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38.3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40.4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41.6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49.6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51.6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52.8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54.4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DISEASE 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39.4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40.8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48.4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46.7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MEDICATION 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75.7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78.1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72.5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77.2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PROCEDURE F1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40.7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43.9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33.2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43.0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Result: the assertion layer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9875520" cy="26883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axis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flag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gold 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polarity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negated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72.7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68.9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70.7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193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certainty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uncertain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63.7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70.7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67.1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temporality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historical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68.1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54.8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A400"/>
                          </a:solidFill>
                        </a:rPr>
                        <a:t>60.7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398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certainty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hypothetical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61.7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64.4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63.0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experiencer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family / other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63.6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50.0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56.0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allergy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allergen, not given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75.0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100.0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85.7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" y="470916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Temporality is section-dependent: recall 0.80 in consults, 0.35 in discharge summaries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Allergy also measured on a 40-span corpus sample: precision 86.7 % after a self-negating-header fix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56032"/>
            <a:ext cx="566928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Result: the feature matrix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2E32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0"/>
                </a:solidFill>
              </a:rPr>
              <a:t>31.08.2026     Clinical NER for MRSA Risk Factors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0"/>
                </a:solidFill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9326880" cy="19202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patients carrying feature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controls (26)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FA400"/>
                          </a:solidFill>
                        </a:rPr>
                        <a:t>cases (24)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prior MRSA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0.23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0.92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central venous catheter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0.42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0.79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myocardial infarction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0.65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0.33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urinary catheter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0.81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0.58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1041</Words>
  <Application>Microsoft Office PowerPoint</Application>
  <PresentationFormat>Breitbild</PresentationFormat>
  <Paragraphs>280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Tobias Rademacher</cp:lastModifiedBy>
  <cp:revision>3</cp:revision>
  <dcterms:created xsi:type="dcterms:W3CDTF">2026-08-27T11:30:50Z</dcterms:created>
  <dcterms:modified xsi:type="dcterms:W3CDTF">2026-09-03T09:10:19Z</dcterms:modified>
</cp:coreProperties>
</file>